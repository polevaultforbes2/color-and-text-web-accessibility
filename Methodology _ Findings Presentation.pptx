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Montserrat"/>
      <p:regular r:id="rId29"/>
      <p:bold r:id="rId30"/>
      <p:italic r:id="rId31"/>
      <p:boldItalic r:id="rId32"/>
    </p:embeddedFont>
    <p:embeddedFont>
      <p:font typeface="Lat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Lato-regular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35" Type="http://schemas.openxmlformats.org/officeDocument/2006/relationships/font" Target="fonts/Lato-italic.fntdata"/><Relationship Id="rId12" Type="http://schemas.openxmlformats.org/officeDocument/2006/relationships/slide" Target="slides/slide7.xml"/><Relationship Id="rId34" Type="http://schemas.openxmlformats.org/officeDocument/2006/relationships/font" Target="fonts/Lat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Lat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c32fd4e3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ec32fd4e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ec32fd4e3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ec32fd4e3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c32fd4e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ec32fd4e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aec32fd4e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aec32fd4e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ec32fd4e3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ec32fd4e3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ec32fd4e3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aec32fd4e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ec32fd4e3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ec32fd4e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c32fd4e3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ec32fd4e3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ec32fd4e3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ec32fd4e3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ec32fd4e3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ec32fd4e3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ec32fd4e3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ec32fd4e3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ec32fd4e3_1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ec32fd4e3_1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ec32fd4e3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ec32fd4e3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ec32fd4e3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ec32fd4e3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ec32fd4e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ec32fd4e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c32fd4e3_1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ec32fd4e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ec32fd4e3_1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ec32fd4e3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aec32fd4e3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aec32fd4e3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ec32fd4e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ec32fd4e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ec32fd4e3_1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ec32fd4e3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aec32fd4e3_1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aec32fd4e3_1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ec32fd4e3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aec32fd4e3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ec32fd4e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ec32fd4e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20" Type="http://schemas.openxmlformats.org/officeDocument/2006/relationships/hyperlink" Target="https://doi.org/10.1007/978-3-030-23535-2_17" TargetMode="External"/><Relationship Id="rId22" Type="http://schemas.openxmlformats.org/officeDocument/2006/relationships/hyperlink" Target="https://doi.org/10.1145/3441852.3476529" TargetMode="External"/><Relationship Id="rId21" Type="http://schemas.openxmlformats.org/officeDocument/2006/relationships/hyperlink" Target="https://doi.org/10.1145/3441852.3476529" TargetMode="External"/><Relationship Id="rId24" Type="http://schemas.openxmlformats.org/officeDocument/2006/relationships/hyperlink" Target="https://doi.org/10.1007/s10209-014-0399-3" TargetMode="External"/><Relationship Id="rId23" Type="http://schemas.openxmlformats.org/officeDocument/2006/relationships/hyperlink" Target="https://doi.org/10.1007/s10209-014-0399-3" TargetMode="External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hyperlink" Target="https://www.color-blindness.com/coblis-color-blindness-simulator/" TargetMode="External"/><Relationship Id="rId26" Type="http://schemas.openxmlformats.org/officeDocument/2006/relationships/hyperlink" Target="https://doi.org/10.1109/SP.2019.00058" TargetMode="External"/><Relationship Id="rId25" Type="http://schemas.openxmlformats.org/officeDocument/2006/relationships/hyperlink" Target="https://doi.org/10.1109/SP.2019.00058" TargetMode="External"/><Relationship Id="rId28" Type="http://schemas.openxmlformats.org/officeDocument/2006/relationships/hyperlink" Target="https://www.w3.org/TR/WCAG22/#distinguishable" TargetMode="External"/><Relationship Id="rId27" Type="http://schemas.openxmlformats.org/officeDocument/2006/relationships/hyperlink" Target="https://www.w3.org/TR/WCAG22/#distinguishable" TargetMode="External"/><Relationship Id="rId5" Type="http://schemas.openxmlformats.org/officeDocument/2006/relationships/hyperlink" Target="https://doi.org/10.1145/3371300.3383348" TargetMode="External"/><Relationship Id="rId6" Type="http://schemas.openxmlformats.org/officeDocument/2006/relationships/hyperlink" Target="https://doi.org/10.1145/3371300.3383348" TargetMode="External"/><Relationship Id="rId7" Type="http://schemas.openxmlformats.org/officeDocument/2006/relationships/hyperlink" Target="https://doi.org/10.48550/arXiv.2107.06799" TargetMode="External"/><Relationship Id="rId8" Type="http://schemas.openxmlformats.org/officeDocument/2006/relationships/hyperlink" Target="https://doi.org/10.48550/arXiv.2107.06799" TargetMode="External"/><Relationship Id="rId11" Type="http://schemas.openxmlformats.org/officeDocument/2006/relationships/hyperlink" Target="https://developer.chrome.com/docs/extensions/develop/concepts/content-scripts" TargetMode="External"/><Relationship Id="rId10" Type="http://schemas.openxmlformats.org/officeDocument/2006/relationships/hyperlink" Target="https://www.color-blindness.com/coblis-color-blindness-simulator/" TargetMode="External"/><Relationship Id="rId13" Type="http://schemas.openxmlformats.org/officeDocument/2006/relationships/hyperlink" Target="https://doi.org/10.1007/978-3-030-60128-7_26" TargetMode="External"/><Relationship Id="rId12" Type="http://schemas.openxmlformats.org/officeDocument/2006/relationships/hyperlink" Target="https://developer.chrome.com/docs/extensions/develop/concepts/content-scripts" TargetMode="External"/><Relationship Id="rId15" Type="http://schemas.openxmlformats.org/officeDocument/2006/relationships/hyperlink" Target="https://doi.org/10.5815/ijitcs.2017.09.03" TargetMode="External"/><Relationship Id="rId14" Type="http://schemas.openxmlformats.org/officeDocument/2006/relationships/hyperlink" Target="https://doi.org/10.1007/978-3-030-60128-7_26" TargetMode="External"/><Relationship Id="rId17" Type="http://schemas.openxmlformats.org/officeDocument/2006/relationships/hyperlink" Target="https://doi.org/10.1007/s10209-023-01010-0" TargetMode="External"/><Relationship Id="rId16" Type="http://schemas.openxmlformats.org/officeDocument/2006/relationships/hyperlink" Target="https://doi.org/10.5815/ijitcs.2017.09.03" TargetMode="External"/><Relationship Id="rId19" Type="http://schemas.openxmlformats.org/officeDocument/2006/relationships/hyperlink" Target="https://doi.org/10.1007/978-3-030-23535-2_17" TargetMode="External"/><Relationship Id="rId18" Type="http://schemas.openxmlformats.org/officeDocument/2006/relationships/hyperlink" Target="https://doi.org/10.1007/s10209-023-01010-0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8" cy="5135059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/>
        </p:nvSpPr>
        <p:spPr>
          <a:xfrm>
            <a:off x="845250" y="361900"/>
            <a:ext cx="7453500" cy="1508400"/>
          </a:xfrm>
          <a:prstGeom prst="rect">
            <a:avLst/>
          </a:prstGeom>
          <a:noFill/>
          <a:ln cap="flat" cmpd="sng" w="9525">
            <a:solidFill>
              <a:srgbClr val="512D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Color and Text Web Accessibility </a:t>
            </a:r>
            <a:endParaRPr b="1" sz="4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1912350" y="2055850"/>
            <a:ext cx="5319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Josh Forbes, </a:t>
            </a: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Sterling Davis, Jordan Norris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Research II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December 9 2025</a:t>
            </a:r>
            <a:endParaRPr b="1" sz="1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Introduction and Background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2" name="Google Shape;142;p14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Color choice plays an important role in user interface design, and a bad choice can lead to a web page that is not readable or accessible especially for those with visual impairments 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Our goal is to help fix this problem by developing a tool that gives the users the ability to choose their own colors for web pages that are not readable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-"/>
            </a:pPr>
            <a:r>
              <a:rPr lang="en" sz="1500">
                <a:solidFill>
                  <a:schemeClr val="dk1"/>
                </a:solidFill>
              </a:rPr>
              <a:t>With over a billion websites in the world, making sure they are accessible is an important task not only as developers but as stewards 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5"/>
          <p:cNvSpPr txBox="1"/>
          <p:nvPr/>
        </p:nvSpPr>
        <p:spPr>
          <a:xfrm>
            <a:off x="2874150" y="1116475"/>
            <a:ext cx="3395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Literature</a:t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Review</a:t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Literature Review Summary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4" name="Google Shape;154;p16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Website Accessibility is important especially due to the increase of internet users every single year.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world wide web is a staple of communication in our day and age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most popular web accessibility standards are the WCAG (web content accessibility guidelines)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Guidelines each have a 1x-3x ‘A’ rating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Currently known tools are frequently inaccurate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Literature Review Gaps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0" name="Google Shape;160;p17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Many tools exists for developers to use but not for the users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These tools are not easy to use and even with these tools there are still millions of web pages that violate the WCAG guidelines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Many of the tools are for detection only and don’t give practical suggestions to fix the errors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Developers are more likely to focus on the aesthetics of the  web page rather than how accessible the web page is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2874150" y="1116475"/>
            <a:ext cx="339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Goal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2" name="Google Shape;172;p19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Design a browser extension that allows users to create custom accessibility modes (color + text adjustments)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can modify webpage colors, text size, and element contrast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Puts accessibility control into the hands of the user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Tools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8" name="Google Shape;178;p20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browser extension was created using Google Chrome’s extension API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WCAG Guidelines as a baseline metric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Cloudflare for site hosting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Bad testing web page (hosted on cloudflare)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WAccess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Google Chrome dev tool (specifically the inspector)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Let’s get color blind filter (for non color blind testers)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Git Lab and VS Code for programming and sharing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Data Collection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4" name="Google Shape;184;p21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 testing was used for our data collection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We designed a basic bad web page for users to test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 colorblind filter was placed over the web page so users could simulate the perspective of someone with visual impairments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We also documented which colorblind filter each user used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would rate the web page readability and accessibility on a scale of 1-10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would then have 10 minutes to use our tool to improve the web pages accessibility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would finally rate the web page again using the same metrics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Process Design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22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Proof of Concept -&gt; </a:t>
            </a:r>
            <a:r>
              <a:rPr lang="en" sz="1600">
                <a:solidFill>
                  <a:schemeClr val="dk1"/>
                </a:solidFill>
              </a:rPr>
              <a:t>Simple extension altering basic tags (p, h1, background-color)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Persistence -&gt; </a:t>
            </a:r>
            <a:r>
              <a:rPr lang="en" sz="1600">
                <a:solidFill>
                  <a:schemeClr val="dk1"/>
                </a:solidFill>
              </a:rPr>
              <a:t>Save and load user-defined modes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Element Selection -&gt; </a:t>
            </a:r>
            <a:r>
              <a:rPr lang="en" sz="1600">
                <a:solidFill>
                  <a:schemeClr val="dk1"/>
                </a:solidFill>
              </a:rPr>
              <a:t>Hover + select specific elements to customize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Full Extension Setup -&gt; </a:t>
            </a:r>
            <a:r>
              <a:rPr lang="en" sz="1600">
                <a:solidFill>
                  <a:schemeClr val="dk1"/>
                </a:solidFill>
              </a:rPr>
              <a:t>Ensure stable functionality and UI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b="1" lang="en" sz="1600">
                <a:solidFill>
                  <a:schemeClr val="dk1"/>
                </a:solidFill>
              </a:rPr>
              <a:t>Evaluation Phase -&gt; </a:t>
            </a:r>
            <a:r>
              <a:rPr lang="en" sz="1600">
                <a:solidFill>
                  <a:schemeClr val="dk1"/>
                </a:solidFill>
              </a:rPr>
              <a:t>Test WCAG improvement + gather user feedback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3"/>
          <p:cNvSpPr txBox="1"/>
          <p:nvPr/>
        </p:nvSpPr>
        <p:spPr>
          <a:xfrm>
            <a:off x="2874150" y="1116475"/>
            <a:ext cx="3395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Demonstration</a:t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Process Design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2" name="Google Shape;20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625" y="1015243"/>
            <a:ext cx="2024275" cy="385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7049" y="1015253"/>
            <a:ext cx="1890192" cy="3851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Process Design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9" name="Google Shape;20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7250" y="1307850"/>
            <a:ext cx="6209501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 txBox="1"/>
          <p:nvPr>
            <p:ph idx="4294967295" type="body"/>
          </p:nvPr>
        </p:nvSpPr>
        <p:spPr>
          <a:xfrm>
            <a:off x="6598775" y="4519800"/>
            <a:ext cx="2386800" cy="3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Protanomaly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(Red) Filter applied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6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Methodology Process Design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6" name="Google Shape;2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7113" y="1307850"/>
            <a:ext cx="6189767" cy="305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6"/>
          <p:cNvSpPr txBox="1"/>
          <p:nvPr>
            <p:ph idx="4294967295" type="body"/>
          </p:nvPr>
        </p:nvSpPr>
        <p:spPr>
          <a:xfrm>
            <a:off x="6598775" y="4519800"/>
            <a:ext cx="2386800" cy="33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*Protanomaly (Red) Filter applied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7"/>
          <p:cNvSpPr txBox="1"/>
          <p:nvPr/>
        </p:nvSpPr>
        <p:spPr>
          <a:xfrm>
            <a:off x="2874150" y="1116475"/>
            <a:ext cx="33957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Results and Finding </a:t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8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Results/Findings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9" name="Google Shape;229;p28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had an average accessibility rating of 4.22/10  before using the tool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had an average accessibility rating of 9.56/10 after using the tool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WAccess  to identify 11 contrast errors in the bad website. Google inspection tool was used to verify WAccess’ observations.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After applying our tool with a colorblind friendly scheme, WAccess is unable to re-assess a website after load. Instead we used Google inspection tool to verify all contrast violations were gone. 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Discussion/Analysis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5" name="Google Shape;235;p29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results show much improved readability and accessibility for users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This was the heart of the problem, making web pages more accessible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Most of the articles we researched about didn’t use user testing so it's hard to compare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were able to successfully make the web page more accessible but we got lots of feedback about how the tool was not easy to use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Findings/Limitations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41" name="Google Shape;241;p30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Only tested 18 users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Users were all from Taylor in between the ages of 18-23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Only tested on one web page</a:t>
            </a:r>
            <a:endParaRPr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600">
                <a:solidFill>
                  <a:schemeClr val="dk1"/>
                </a:solidFill>
              </a:rPr>
              <a:t>We used a colorblind filter for all but one user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results from the user who was truly colorblind confirmed the data and had similar results as the users who used the filter</a:t>
            </a:r>
            <a:endParaRPr b="1"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1"/>
          <p:cNvSpPr txBox="1"/>
          <p:nvPr/>
        </p:nvSpPr>
        <p:spPr>
          <a:xfrm>
            <a:off x="2874150" y="1116475"/>
            <a:ext cx="33957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Conclusion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3" name="Google Shape;253;p32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Results show that the tool was successful in increasing readability and accessibility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The data was limited and biased so more testing will need to be done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Future works include making sure the browser extension can work on all dynamic web pages 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 txBox="1"/>
          <p:nvPr>
            <p:ph idx="4294967295"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Room for Improvement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p33"/>
          <p:cNvSpPr txBox="1"/>
          <p:nvPr>
            <p:ph idx="4294967295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We would like to improve the ease of use of the tool and make it easier to user for non-computer scientist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Create premade colorblind friendly schemes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Replace html element names with easy to identify names 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</a:rPr>
              <a:t>Fix the all page application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850" y="4243700"/>
            <a:ext cx="2179200" cy="89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 txBox="1"/>
          <p:nvPr>
            <p:ph idx="4294967295" type="title"/>
          </p:nvPr>
        </p:nvSpPr>
        <p:spPr>
          <a:xfrm>
            <a:off x="1297500" y="13112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References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6" name="Google Shape;266;p34"/>
          <p:cNvSpPr txBox="1"/>
          <p:nvPr>
            <p:ph idx="4294967295" type="body"/>
          </p:nvPr>
        </p:nvSpPr>
        <p:spPr>
          <a:xfrm>
            <a:off x="700825" y="743225"/>
            <a:ext cx="7932000" cy="27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Almeida, Rafael, and Carlos Duarte. “Analysis of Automated Contrast Checking Tools.”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17th International Web for All Conference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[Taipei Taiwan], 2020, pp. 1–4.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DOI.org (Crossref)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https://doi.org/10.1145/3371300.3383348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Boyalakuntla, Kowndinya, et al. “WAccess -- A Web Accessibility Tool Based on WCAG 2.2, 2.1 and 2.0 Guidelines.” arXiv:2107.06799, arXiv, 21 Sept. 2021.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arXiv.org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https://doi.org/10.48550/arXiv.2107.06799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Coblis — Color Blindness Simulator – Colblindor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https://www.color-blindness.com/coblis-color-blindness-simulator/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11 Sept. 2025.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“Content Scripts.”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Chrome for Developers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https://developer.chrome.com/docs/extensions/develop/concepts/content-scripts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17 Oct. 2025.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Corbin, Connor, et al. “Design and Development of a Web Extension to Help Facilitate the Learning of a Foreign Language.”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HCI International 2020 – Late Breaking Papers: Cognition, Learning and Games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edited by Constantine Stephanidis et al., vol. 12425, Springer International Publishing, 2020, pp. 345–64. Lecture Notes in Computer Science.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DOI.org (Crossref)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https://doi.org/10.1007/978-3-030-60128-7_26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Lecturer, Khujand Polytechnic Institute of Tajik Technical University named after academician M.S. Osimi, 735700 Khujand, Tajikistan, and Siddikjon Gaibullojonovich Abduganiev. “Towards Automated Web Accessibility Evaluation: A Comparative Study.”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Information Technology and Computer Science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9, no. 9, Sept. 2017, pp. 18–44.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DOI.org (Crossref)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https://doi.org/10.5815/ijitcs.2017.09.03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Martins, Beatriz, and Carlos Duarte. “A Large-Scale Web Accessibility Analysis Considering Technology Adoption.”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Access in the Information Society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23, no. 4, Nov. 2024, pp. 1857–72.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Springer Link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https://doi.org/10.1007/s10209-023-01010-0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Muzaffar, Junaid, and Noman Mazher. “Web Accessibility Standards: Implementing WCAG Guidelines for Inclusive Design.”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Pioneer Research Journal of Computing Science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1, no. 3, Sept. 2024, pp. 62–70.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prjcs.com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Nuñez, Almendra, et al. “Web Accessibility Evaluation Methods: A Systematic Review.”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Design, User Experience, and Usability. Practice and Case Studies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edited by Aaron Marcus and Wentao Wang, Springer International Publishing, 2019, pp. 226–37.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Springer Link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https://doi.org/10.1007/978-3-030-23535-2_17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Sandnes, Frode Eika. “Inverse Color Contrast Checker: Automatically Suggesting Color Adjustments That Meet Contrast Requirements on the Web.”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Proceedings of the 23rd International ACM SIGACCESS Conference on Computers and Accessibility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[Virtual Event USA], 2021, pp. 1–4.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DOI.org (Crossref)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https://doi.org/10.1145/3441852.3476529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Schiavone, Antonio Giovanni, and Fabio Paternò. “An Extensible Environment for Guideline-Based Accessibility Evaluation of Dynamic Web Applications.”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Universal Access in the Information Society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14, no. 1, Mar. 2015, pp. 111–32.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DOI.org (Crossref)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https://doi.org/10.1007/s10209-014-0399-3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Somé, Dolière Francis. “EmPoWeb: Empowering Web Applications with Browser Extensions.”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2019 IEEE Symposium on Security and Privacy (SP)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2019, pp. 227–45. </a:t>
            </a: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Xplore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https://doi.org/10.1109/SP.2019.00058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5588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Content Accessibility Guidelines (WCAG) 2.2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" sz="2457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2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2457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https://www.w3.org/TR/WCAG22/#distinguishable</a:t>
            </a:r>
            <a:r>
              <a:rPr lang="en" sz="2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Accessed 11 Sept. 2025.</a:t>
            </a:r>
            <a:endParaRPr sz="245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7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